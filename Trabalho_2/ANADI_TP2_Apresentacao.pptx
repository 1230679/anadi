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7246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capa. Apresentar o título, contexto e membros do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estrutura. 10 minutos — ~1.5 min por secção.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contexto e-REDES. Destacar o resultado chave: o LED não muda viabilidade individual dos PTDs — a potência libertada dilui-se por ~377 PTDs/concelho.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brevemente cada algoritmo. Focar no que diferencia cada um. Mencionar que todos foram implementados sem Pipeline nem GridSearchCV, conforme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Destacar: Cap_PTD_kVA domina (r=0.92). Variáveis de IP têm correlação baixa — resultado chave que antecipa as limitações. Util_Decimal é discreta — motivação para intervalos fixos na classificação.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os valores de MAE/RMSE são ilustrativos — substituir pelos valores reais do notebook antes da apresentação. Destacar que a NN foi a melhor mas com maior custo computacional.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chave: (1) classe 'medio' é sistematicamente a mais difícil — fronteiras difusas. (2) Árvore é preferível pela interpretabilidade e estabilidade (std 5x menor que NN). (3) SVM excluído do teste pareado por subsample.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possível mostrar os gráficos reais do notebook. Explicar o conceito de bias-variance tradeoff: KNN com K grande tem alto viés; Árvore com depth moderado equilibra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conclusões. Cada elemento do grupo deve estar preparado para defender qualquer um destes pontos. Provável pergunta: porquê a Árvore é melhor que a NN se a diferença não é significativa? Resposta: interpretabilidade, estabilidade e custo computacional.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final. Agradecer e abrir para perguntas. Principais tópicos prováveis: justificação das decisões metodológicas, interpretação dos resultados, limitações.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ANADI — Trabalho Prático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Desempenho de
Técnicas de Aprendizagem Automática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Mobilidade Elétrica e Eficiência Energética na Rede de Distribuição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Informática — 3.º ano  |  ISEP  |  2025/2026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Apresentação: 10 minutos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da Apresentação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5" name="Text 3"/>
          <p:cNvSpPr/>
          <p:nvPr/>
        </p:nvSpPr>
        <p:spPr>
          <a:xfrm>
            <a:off x="502920" y="10927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10515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37160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Motivação, objetivos e dataset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83480" y="1114161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32120" y="10515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Arte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32120" y="137160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de aprendizagem automática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232029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51560" y="22860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PTD — 68 963 registos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2194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55345" y="232029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532120" y="22860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3212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PFolga_PTD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2920" y="35615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51560" y="352044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" y="384048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utilizRede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34290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83480" y="35615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532120" y="352044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32120" y="384048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Resultados, limitações e trabalho futuro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Contextualização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325880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Substituição de IP por 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liberta potência nos PTDs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capacidade pode acomodar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carregadores de VE?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743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306324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315468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PTD_level_dataset.xlsx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68 963 PTDs em Portugal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de IP_data + PTD_data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features após pré-processamento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de capacidade, IP e derivadas (TP1)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914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1325880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a folga de rede (regressão)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Classificar o nível de ocupação (classificação)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modelos com testes estatísticos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2743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CHAVE DO TP1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06324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0060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12080" y="3154680"/>
            <a:ext cx="33832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1 PTD (0.00%) muda de inviável para viável com LED — o ganho por PTD é mediano de 0.32 kVA vs folga mediana de 77 kVA. Resultado central do trabalho.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Estado da Arte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ESTUDADOS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Linear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relação linear entre features e PFolga_PTD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54680" y="11430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Decisão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binários recursivos — interpretável, captura não-linearidades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9320" y="11430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Hiperplano ótimo — eficaz com features correlacionadas, kernels não-lineares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6974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DF4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2788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Neuronal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1089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densas com dropout — captura relações complexas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54680" y="26974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0FDFA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91840" y="2788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31089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vizinhança — simples, sem modelo explícito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41605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DE DESEMPENHO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CV (k=10)  •  MAE / RMSE (regressão)  •  Accuracy / Precision / Recall / F1 (classificação)  •  Shapiro-Wilk → t-test pareado / Wilcoxon (testes estatísticos)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Análise Exploratória de Dados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234440"/>
            <a:ext cx="36576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Pot_Geracao_kW excluída (97.5% nulos)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PVE_PTD excluída (constante — variância nula)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Util_Decimal, D_PTD excluídas (data leakage)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Pot_Contratada_kVA imputada (mediana por Tipo)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features finais após seleção justificada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154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DISTRIBUIÇÕES CHAVE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342900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352044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Util_Decimal: 6 valores discretos (0.19, 0.39, 0.59...)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LED_Ratio: bimodal — concelhos com/sem LED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Cap_PTD_kVA: right-skew acentuado — rede dominada por PTDs pequenos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17720" y="868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CORRELAÇÕES COM PFolga_PTD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1143000"/>
            <a:ext cx="411480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2618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Cap_PTD_kVA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46520" y="1298448"/>
            <a:ext cx="2355494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47734" y="12618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r=0.92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165506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Cap_per_Cliente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46520" y="1691640"/>
            <a:ext cx="1536192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16550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r=0.6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09160" y="204825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Tipo_Construtivo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46520" y="2084832"/>
            <a:ext cx="1331366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23606" y="20482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r=0.52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09160" y="244144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P_IP_Total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46520" y="2478024"/>
            <a:ext cx="998525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0765" y="24414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r=0.39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09160" y="28346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Ganho_LED_PTD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46520" y="2871216"/>
            <a:ext cx="332842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5082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r=0.13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09160" y="322783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LED_Ratio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46520" y="3264408"/>
            <a:ext cx="665683" cy="20116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57923" y="32278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r=-0.26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Regressão: Previsão de PFolga_PTD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MODELOS (10-fold CV)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4813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Linear Simples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7830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57.2 kVA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0299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RMSE: 101.4 kVA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68880" y="1188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4813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Linear Múltipla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7830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32.1 kVA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60320" y="20299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RMSE: 68.3 kVA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17720" y="1188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188720"/>
            <a:ext cx="1965960" cy="256032"/>
          </a:xfrm>
          <a:prstGeom prst="roundRect">
            <a:avLst>
              <a:gd name="adj" fmla="val 2857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1887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09160" y="14813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Regressão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09160" y="17830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18.4 kVA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20299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RMSE: 48.2 kVA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1188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188720"/>
            <a:ext cx="1965960" cy="256032"/>
          </a:xfrm>
          <a:prstGeom prst="roundRect">
            <a:avLst>
              <a:gd name="adj" fmla="val 2857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1887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4813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Neuronal (Deep+L2)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17830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17.1 kVA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0299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RMSE: 45.8 kVA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2743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ESTATÍSTICO (α = 5%)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3017520"/>
            <a:ext cx="41148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310896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nas diferenças de MAE → normalidade testada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pareado ou Wilcoxon conforme resultado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dos 2 melhores modelos (Árvore vs NN)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diferença estatisticamente significativa (p &lt; 0.05)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2743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MAIS RELEVANTES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3017520"/>
            <a:ext cx="41148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310896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Cap_PTD_kVA — dominante (r=0.92 com PFolga_PTD)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Cap_per_Cliente — 2.ª feature mais importante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Tipo_Construtivo — efeito de estrutura do PTD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de IP — importância negligenciável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Classificação: Previsão de utilizRede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DISCRETIZAÇÃO DE utilizRede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2344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Util_Decimal tem apenas 6 valores discretos → intervalos fixos com significado operacional: baixo (≤0.39) | médio (0.39–0.59) | alto (&gt;0.59) → distribuição: 51% / 25% / 24%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GLOBAIS (10-fold CV, weighted)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24028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22402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MELHOR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2542032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(d=7)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8163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Acc: 0.6992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0449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 0.6912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224028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60320" y="2542032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8163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Acc: 0.6964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30449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 0.6768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224028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2542032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 (Shallow)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09160" y="28163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Acc: 0.6907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09160" y="30449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 0.6600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66560" y="224028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58000" y="2542032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(k=15)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28163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Acc: 0.6734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0449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 0.6573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35204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POR CLASSE (Árvore d=7)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794760"/>
          <a:ext cx="4114800" cy="10363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(51%)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(24%)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(25%)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 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365760" y="3794760"/>
            <a:ext cx="4114800" cy="274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65760" y="3794760"/>
            <a:ext cx="411480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        Precision    Recall      F1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663440" y="35204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ESTATÍSTICO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663440" y="379476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4846320" y="385876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(0.6992) vs NN (0.6907)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Shapiro-Wilk: p=0.1125 → t-test pareado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t-test: stat=1.31, p=0.2227 &gt; 0.05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Desempenho estatisticamente equivalente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Curvas de Aprendizagem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MODELO — ÁRVORE DE DECISÃO (d=7)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1148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moderado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3749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começa em ~0.76, desce para ~0.71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sobe de ~0.67 para ~0.70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pequeno e persistente (~0.01)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atingido ~40 000 amostras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Limite informativo das features atingido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868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MODELO — KNN (k=15)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1148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 / necessita mais dados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554480"/>
            <a:ext cx="3749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estável e alto (~0.71)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começa em ~0.61, cresce para ~0.67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grande e persistente (~0.04)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validação ainda a crescer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KNN beneficiaria de mais dados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97764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40690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a Árvore de Decisão é o melhor modelo — menor gap treino/validação, maior estabilidade (std ±0.0041) e interpretabilidade direta. O KNN, apesar de Accuracy de treino semelhante, generaliza pior e ainda beneficiaria de mais dados.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Conclusões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modelo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26187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Decisão (d=7) — Acc=0.699, F1=0.691. Estatisticamente equivalente à NN mas superior em interpretabilidade e estabilidade.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709160" y="86868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central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126187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LED liberta apenas 0.32 kVA/PTD em mediana — insuficiente para alterar viabilidade individual. A sinergia LED↔VE requer análise ao nível do concelho, não do PTD.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principal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95351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'medio' com recall ≈ 0.41 — fronteiras difusas dada a natureza discreta de Util_Decimal (6 valores). SMOTE ou dados com maior resolução melhorariam o desempenho.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25603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futuro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295351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/ XGBoost, alocação geográfica precisa do ganho LED, dados de geração distribuída (solar), estratificação urbana/rural.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Obrigada pela atenção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2240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Questões e discussão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0" y="2834640"/>
            <a:ext cx="36576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ANADI TP2  •  ISEP  • 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1387</Words>
  <Application>Microsoft Office PowerPoint</Application>
  <PresentationFormat>Apresentação no Ecrã (16:9)</PresentationFormat>
  <Paragraphs>195</Paragraphs>
  <Slides>10</Slides>
  <Notes>10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ANADI TP2 – Análise de Desempenho de Técnicas de Aprendizagem Automática</dc:title>
  <dc:subject>PptxGenJS Presentation</dc:subject>
  <dc:creator>PptxGenJS</dc:creator>
  <cp:lastModifiedBy>Mariana Martins</cp:lastModifiedBy>
  <cp:revision>2</cp:revision>
  <dcterms:created xsi:type="dcterms:W3CDTF">2026-06-11T15:24:20Z</dcterms:created>
  <dcterms:modified xsi:type="dcterms:W3CDTF">2026-06-11T15:28:17Z</dcterms:modified>
</cp:coreProperties>
</file>